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527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9625" y="933450"/>
            <a:ext cx="6820793" cy="198864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5220"/>
              </a:lnSpc>
              <a:buNone/>
            </a:pPr>
            <a:r>
              <a:rPr lang="en-US" sz="4350" b="1" dirty="0">
                <a:solidFill>
                  <a:srgbClr val="8B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de la
congestion routière
à Casablanca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809625" y="3314700"/>
            <a:ext cx="5982593" cy="90666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570"/>
              </a:lnSpc>
              <a:buNone/>
            </a:pPr>
            <a:r>
              <a:rPr lang="en-US" sz="2550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partir de données urbaines
et de trafic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962025" y="4886325"/>
            <a:ext cx="7040880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Réalisé par : </a:t>
            </a:r>
            <a:r>
              <a:rPr lang="en-US" sz="16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Othmane</a:t>
            </a: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Ayaou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2025" y="5324475"/>
            <a:ext cx="8801100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Formation : Data Analyst – Simpolon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2025" y="5762625"/>
            <a:ext cx="4693920" cy="3143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: Mars 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490" y="4457700"/>
            <a:ext cx="463153" cy="4731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1153" y="2674590"/>
            <a:ext cx="792361" cy="5485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1490" y="1796653"/>
            <a:ext cx="853380" cy="7749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361" y="5479405"/>
            <a:ext cx="792361" cy="54858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455" y="2715667"/>
            <a:ext cx="743694" cy="54858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8157" y="2695129"/>
            <a:ext cx="755898" cy="56227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803648"/>
            <a:ext cx="889992" cy="75426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855" y="4121646"/>
            <a:ext cx="780157" cy="50735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694" y="1803648"/>
            <a:ext cx="877788" cy="754261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590550" y="581025"/>
            <a:ext cx="21122640" cy="4987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927"/>
              </a:lnSpc>
              <a:buNone/>
            </a:pPr>
            <a:r>
              <a:rPr lang="en-US" sz="3300" b="1" dirty="0">
                <a:solidFill>
                  <a:srgbClr val="921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Contexte Métier : Casablanca en saturation</a:t>
            </a:r>
            <a:endParaRPr lang="en-US" sz="3300" dirty="0"/>
          </a:p>
        </p:txBody>
      </p:sp>
      <p:sp>
        <p:nvSpPr>
          <p:cNvPr id="13" name="Text 1"/>
          <p:cNvSpPr/>
          <p:nvPr/>
        </p:nvSpPr>
        <p:spPr>
          <a:xfrm>
            <a:off x="838200" y="3067050"/>
            <a:ext cx="2944118" cy="937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690"/>
              </a:lnSpc>
              <a:buNone/>
            </a:pPr>
            <a:r>
              <a:rPr lang="en-US" sz="3075" b="1" dirty="0">
                <a:solidFill>
                  <a:srgbClr val="921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 du Pu
PIB national</a:t>
            </a:r>
            <a:endParaRPr lang="en-US" sz="3075" dirty="0"/>
          </a:p>
        </p:txBody>
      </p:sp>
      <p:sp>
        <p:nvSpPr>
          <p:cNvPr id="14" name="Text 2"/>
          <p:cNvSpPr/>
          <p:nvPr/>
        </p:nvSpPr>
        <p:spPr>
          <a:xfrm>
            <a:off x="4733925" y="3067050"/>
            <a:ext cx="3059311" cy="13372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510"/>
              </a:lnSpc>
              <a:buNone/>
            </a:pPr>
            <a:r>
              <a:rPr lang="en-US" sz="2925" b="1" dirty="0">
                <a:solidFill>
                  <a:srgbClr val="F97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150
heures/an
dans le trafic</a:t>
            </a:r>
            <a:endParaRPr lang="en-US" sz="2925" dirty="0"/>
          </a:p>
        </p:txBody>
      </p:sp>
      <p:sp>
        <p:nvSpPr>
          <p:cNvPr id="15" name="Text 3"/>
          <p:cNvSpPr/>
          <p:nvPr/>
        </p:nvSpPr>
        <p:spPr>
          <a:xfrm>
            <a:off x="8886825" y="3067050"/>
            <a:ext cx="2608808" cy="14059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690"/>
              </a:lnSpc>
              <a:buNone/>
            </a:pPr>
            <a:r>
              <a:rPr lang="en-US" sz="3075" b="1" dirty="0">
                <a:solidFill>
                  <a:srgbClr val="921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1,1 tonne
CO₂/an par
usager</a:t>
            </a:r>
            <a:endParaRPr lang="en-US" sz="3075" dirty="0"/>
          </a:p>
        </p:txBody>
      </p:sp>
      <p:sp>
        <p:nvSpPr>
          <p:cNvPr id="16" name="Text 4"/>
          <p:cNvSpPr/>
          <p:nvPr/>
        </p:nvSpPr>
        <p:spPr>
          <a:xfrm>
            <a:off x="1752600" y="1866900"/>
            <a:ext cx="1927771" cy="5607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07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Capitale
Économique</a:t>
            </a:r>
            <a:endParaRPr lang="en-US" sz="2025" dirty="0"/>
          </a:p>
        </p:txBody>
      </p:sp>
      <p:sp>
        <p:nvSpPr>
          <p:cNvPr id="17" name="Text 5"/>
          <p:cNvSpPr/>
          <p:nvPr/>
        </p:nvSpPr>
        <p:spPr>
          <a:xfrm>
            <a:off x="5648325" y="1866900"/>
            <a:ext cx="2242096" cy="5607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07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Temps
&amp; Économie</a:t>
            </a:r>
            <a:endParaRPr lang="en-US" sz="2025" dirty="0"/>
          </a:p>
        </p:txBody>
      </p:sp>
      <p:sp>
        <p:nvSpPr>
          <p:cNvPr id="18" name="Text 6"/>
          <p:cNvSpPr/>
          <p:nvPr/>
        </p:nvSpPr>
        <p:spPr>
          <a:xfrm>
            <a:off x="9382125" y="1866900"/>
            <a:ext cx="2619375" cy="5191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04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
Environnemental</a:t>
            </a:r>
            <a:endParaRPr lang="en-US" sz="1875" dirty="0"/>
          </a:p>
        </p:txBody>
      </p:sp>
      <p:sp>
        <p:nvSpPr>
          <p:cNvPr id="19" name="Text 7"/>
          <p:cNvSpPr/>
          <p:nvPr/>
        </p:nvSpPr>
        <p:spPr>
          <a:xfrm>
            <a:off x="714375" y="4829175"/>
            <a:ext cx="3289846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Moteur essentiel de la
croissance économique</a:t>
            </a:r>
            <a:endParaRPr lang="en-US" sz="1950" dirty="0"/>
          </a:p>
        </p:txBody>
      </p:sp>
      <p:sp>
        <p:nvSpPr>
          <p:cNvPr id="20" name="Text 8"/>
          <p:cNvSpPr/>
          <p:nvPr/>
        </p:nvSpPr>
        <p:spPr>
          <a:xfrm>
            <a:off x="4857750" y="4829175"/>
            <a:ext cx="2818358" cy="5667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2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 minutes par trajet
domicile-travail</a:t>
            </a:r>
            <a:endParaRPr lang="en-US" sz="1875" dirty="0"/>
          </a:p>
        </p:txBody>
      </p:sp>
      <p:sp>
        <p:nvSpPr>
          <p:cNvPr id="21" name="Text 9"/>
          <p:cNvSpPr/>
          <p:nvPr/>
        </p:nvSpPr>
        <p:spPr>
          <a:xfrm>
            <a:off x="9001125" y="4829175"/>
            <a:ext cx="2336453" cy="85010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2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Plus de 50 arbres
nécessaires pour
compensation</a:t>
            </a:r>
            <a:endParaRPr lang="en-US" sz="1875" dirty="0"/>
          </a:p>
        </p:txBody>
      </p:sp>
      <p:sp>
        <p:nvSpPr>
          <p:cNvPr id="22" name="Text 10"/>
          <p:cNvSpPr/>
          <p:nvPr/>
        </p:nvSpPr>
        <p:spPr>
          <a:xfrm>
            <a:off x="1076325" y="5981700"/>
            <a:ext cx="2430661" cy="4759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874"/>
              </a:lnSpc>
              <a:buNone/>
            </a:pPr>
            <a:r>
              <a:rPr lang="en-US" sz="157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13% de la population
sur 1% du territoire</a:t>
            </a:r>
            <a:endParaRPr lang="en-US" sz="1575" dirty="0"/>
          </a:p>
        </p:txBody>
      </p:sp>
      <p:sp>
        <p:nvSpPr>
          <p:cNvPr id="23" name="Text 11"/>
          <p:cNvSpPr/>
          <p:nvPr/>
        </p:nvSpPr>
        <p:spPr>
          <a:xfrm>
            <a:off x="5038725" y="5981700"/>
            <a:ext cx="2378273" cy="4988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963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10-20% des revenus
des ménages</a:t>
            </a:r>
            <a:endParaRPr lang="en-US" sz="1650" dirty="0"/>
          </a:p>
        </p:txBody>
      </p:sp>
      <p:sp>
        <p:nvSpPr>
          <p:cNvPr id="24" name="Text 12"/>
          <p:cNvSpPr/>
          <p:nvPr/>
        </p:nvSpPr>
        <p:spPr>
          <a:xfrm>
            <a:off x="8820150" y="5981700"/>
            <a:ext cx="2703165" cy="5214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053"/>
              </a:lnSpc>
              <a:buNone/>
            </a:pPr>
            <a:r>
              <a:rPr lang="en-US" sz="17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1/3 des émissions CO₂
du pays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361" y="4683919"/>
            <a:ext cx="682675" cy="69264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384" y="4683919"/>
            <a:ext cx="682675" cy="69264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055" y="4683919"/>
            <a:ext cx="707082" cy="69264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04825" y="933450"/>
            <a:ext cx="21545550" cy="73669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5801"/>
              </a:lnSpc>
              <a:buNone/>
            </a:pPr>
            <a:r>
              <a:rPr lang="en-US" sz="48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Optimiser la mobilité urbaine</a:t>
            </a:r>
            <a:endParaRPr lang="en-US" sz="4875" dirty="0"/>
          </a:p>
        </p:txBody>
      </p:sp>
      <p:sp>
        <p:nvSpPr>
          <p:cNvPr id="7" name="Text 1"/>
          <p:cNvSpPr/>
          <p:nvPr/>
        </p:nvSpPr>
        <p:spPr>
          <a:xfrm>
            <a:off x="2600325" y="2609850"/>
            <a:ext cx="7658993" cy="12541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292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Comment utiliser les données urbaines
pour analyser et optimiser la
congestion routière à Casablanca ?</a:t>
            </a:r>
            <a:endParaRPr lang="en-US" sz="2475" dirty="0"/>
          </a:p>
        </p:txBody>
      </p:sp>
      <p:sp>
        <p:nvSpPr>
          <p:cNvPr id="8" name="Text 2"/>
          <p:cNvSpPr/>
          <p:nvPr/>
        </p:nvSpPr>
        <p:spPr>
          <a:xfrm>
            <a:off x="2452181" y="5467350"/>
            <a:ext cx="2011680" cy="2787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9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Analyser</a:t>
            </a:r>
            <a:endParaRPr lang="en-US" sz="1650" dirty="0"/>
          </a:p>
        </p:txBody>
      </p:sp>
      <p:sp>
        <p:nvSpPr>
          <p:cNvPr id="9" name="Text 3"/>
          <p:cNvSpPr/>
          <p:nvPr/>
        </p:nvSpPr>
        <p:spPr>
          <a:xfrm>
            <a:off x="5006772" y="5467350"/>
            <a:ext cx="2263140" cy="2787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9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Optimiser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7944282" y="5467350"/>
            <a:ext cx="1760220" cy="2787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9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Décider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4443874" y="2314575"/>
            <a:ext cx="3497580" cy="219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F9A82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 CENTRALE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2533650" y="5810250"/>
            <a:ext cx="1990725" cy="4054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Identifier les schémas
de congestion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362575" y="5810250"/>
            <a:ext cx="1644848" cy="4054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Fluidifier les axes
critiques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943850" y="5810250"/>
            <a:ext cx="1864965" cy="4054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Fournir des insights
actionnables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5300" y="390525"/>
            <a:ext cx="2823210" cy="21535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9A82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PROBLÉMATIQUE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10935593" y="6467475"/>
            <a:ext cx="609600" cy="150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9A82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298436" y="6467475"/>
            <a:ext cx="609600" cy="150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894" y="5664696"/>
            <a:ext cx="377875" cy="37713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879" y="5657850"/>
            <a:ext cx="365671" cy="3839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694" y="4437013"/>
            <a:ext cx="499765" cy="4045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996" y="5657850"/>
            <a:ext cx="353467" cy="38397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471" y="2194471"/>
            <a:ext cx="670471" cy="79548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3184" y="2194471"/>
            <a:ext cx="780157" cy="7886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953" y="2194471"/>
            <a:ext cx="804565" cy="77494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57225" y="742950"/>
            <a:ext cx="14721840" cy="5213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106"/>
              </a:lnSpc>
              <a:buNone/>
            </a:pPr>
            <a:r>
              <a:rPr lang="en-US" sz="3450" b="1" dirty="0">
                <a:solidFill>
                  <a:srgbClr val="2B31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Objectifs Stratégiques &amp; KPI</a:t>
            </a:r>
            <a:endParaRPr lang="en-US" sz="3450" dirty="0"/>
          </a:p>
        </p:txBody>
      </p:sp>
      <p:sp>
        <p:nvSpPr>
          <p:cNvPr id="11" name="Text 1"/>
          <p:cNvSpPr/>
          <p:nvPr/>
        </p:nvSpPr>
        <p:spPr>
          <a:xfrm>
            <a:off x="857250" y="4467225"/>
            <a:ext cx="3291840" cy="3658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TTI Moyen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3657600" y="4495800"/>
            <a:ext cx="1781175" cy="75426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70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Routes
Critiques</a:t>
            </a:r>
            <a:endParaRPr lang="en-US" sz="2475" dirty="0"/>
          </a:p>
        </p:txBody>
      </p:sp>
      <p:sp>
        <p:nvSpPr>
          <p:cNvPr id="13" name="Text 3"/>
          <p:cNvSpPr/>
          <p:nvPr/>
        </p:nvSpPr>
        <p:spPr>
          <a:xfrm>
            <a:off x="6496050" y="4495800"/>
            <a:ext cx="2242096" cy="7771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Niveau de
Congestion</a:t>
            </a:r>
            <a:endParaRPr lang="en-US" sz="2550" dirty="0"/>
          </a:p>
        </p:txBody>
      </p:sp>
      <p:sp>
        <p:nvSpPr>
          <p:cNvPr id="14" name="Text 4"/>
          <p:cNvSpPr/>
          <p:nvPr/>
        </p:nvSpPr>
        <p:spPr>
          <a:xfrm>
            <a:off x="9305925" y="4495800"/>
            <a:ext cx="1938337" cy="7316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Distance
Parcourue</a:t>
            </a:r>
            <a:endParaRPr lang="en-US" sz="2400" dirty="0"/>
          </a:p>
        </p:txBody>
      </p:sp>
      <p:sp>
        <p:nvSpPr>
          <p:cNvPr id="15" name="Text 5"/>
          <p:cNvSpPr/>
          <p:nvPr/>
        </p:nvSpPr>
        <p:spPr>
          <a:xfrm>
            <a:off x="1771650" y="2200275"/>
            <a:ext cx="219456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B5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Analyser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5534025" y="2200275"/>
            <a:ext cx="246888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F9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Optimiser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9220200" y="2190750"/>
            <a:ext cx="452628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2B31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Aide à la Décision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762000" y="5400675"/>
            <a:ext cx="2305050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Travel Time Index —
temps de trajet moyen</a:t>
            </a:r>
            <a:endParaRPr lang="en-US" sz="1425" dirty="0"/>
          </a:p>
        </p:txBody>
      </p:sp>
      <p:sp>
        <p:nvSpPr>
          <p:cNvPr id="19" name="Text 9"/>
          <p:cNvSpPr/>
          <p:nvPr/>
        </p:nvSpPr>
        <p:spPr>
          <a:xfrm>
            <a:off x="3657600" y="5400675"/>
            <a:ext cx="2409825" cy="4080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Axes les plus
congestionnés identifiés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6496050" y="5400675"/>
            <a:ext cx="2263080" cy="4080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de temps additionnel
dû aux embouteillages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9305925" y="5400675"/>
            <a:ext cx="2294483" cy="3854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Distance moyenne en 15
minutes de trajet</a:t>
            </a:r>
            <a:endParaRPr lang="en-US" sz="1275" dirty="0"/>
          </a:p>
        </p:txBody>
      </p:sp>
      <p:sp>
        <p:nvSpPr>
          <p:cNvPr id="22" name="Text 12"/>
          <p:cNvSpPr/>
          <p:nvPr/>
        </p:nvSpPr>
        <p:spPr>
          <a:xfrm>
            <a:off x="1771650" y="2581275"/>
            <a:ext cx="2294483" cy="4080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Identifier les causes et
schémas de congestion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5534025" y="2581275"/>
            <a:ext cx="2252663" cy="4080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Proposer des solutions
basées sur les données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9220200" y="2571750"/>
            <a:ext cx="2619375" cy="4080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Fournir des insights
actionnables aux décideurs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3768090" y="3724275"/>
            <a:ext cx="4960620" cy="1720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9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INDICATEURS CLÉS DE PERFORMANCE</a:t>
            </a:r>
            <a:endParaRPr lang="en-US" sz="1050" dirty="0"/>
          </a:p>
        </p:txBody>
      </p:sp>
      <p:sp>
        <p:nvSpPr>
          <p:cNvPr id="26" name="Text 16"/>
          <p:cNvSpPr/>
          <p:nvPr/>
        </p:nvSpPr>
        <p:spPr>
          <a:xfrm>
            <a:off x="619125" y="295275"/>
            <a:ext cx="723900" cy="21535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9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425" dirty="0"/>
          </a:p>
        </p:txBody>
      </p:sp>
      <p:sp>
        <p:nvSpPr>
          <p:cNvPr id="27" name="Text 17"/>
          <p:cNvSpPr/>
          <p:nvPr/>
        </p:nvSpPr>
        <p:spPr>
          <a:xfrm>
            <a:off x="10153620" y="6534150"/>
            <a:ext cx="143637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160"/>
              </a:lnSpc>
              <a:buNone/>
            </a:pPr>
            <a:r>
              <a:rPr lang="en-US" sz="97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15</a:t>
            </a:r>
            <a:endParaRPr lang="en-US" sz="975" dirty="0"/>
          </a:p>
        </p:txBody>
      </p:sp>
      <p:sp>
        <p:nvSpPr>
          <p:cNvPr id="28" name="Text 18"/>
          <p:cNvSpPr/>
          <p:nvPr/>
        </p:nvSpPr>
        <p:spPr>
          <a:xfrm>
            <a:off x="657225" y="6534150"/>
            <a:ext cx="7147560" cy="15865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Analyse de la Congestion — Casablanca 2026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380" y="2434530"/>
            <a:ext cx="3072259" cy="355237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63" y="5561707"/>
            <a:ext cx="658267" cy="6103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59" y="4539853"/>
            <a:ext cx="682675" cy="6171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859" y="3490615"/>
            <a:ext cx="682675" cy="66511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859" y="2461915"/>
            <a:ext cx="682675" cy="69264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57225" y="533400"/>
            <a:ext cx="20619720" cy="4647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659"/>
              </a:lnSpc>
              <a:buNone/>
            </a:pPr>
            <a:r>
              <a:rPr lang="en-US" sz="307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 de Données et Approche Multi-sources</a:t>
            </a:r>
            <a:endParaRPr lang="en-US" sz="3075" dirty="0"/>
          </a:p>
        </p:txBody>
      </p:sp>
      <p:sp>
        <p:nvSpPr>
          <p:cNvPr id="9" name="Text 1"/>
          <p:cNvSpPr/>
          <p:nvPr/>
        </p:nvSpPr>
        <p:spPr>
          <a:xfrm>
            <a:off x="714375" y="1219200"/>
            <a:ext cx="20368260" cy="3740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45"/>
              </a:lnSpc>
              <a:buNone/>
            </a:pPr>
            <a:r>
              <a:rPr lang="en-US" sz="24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Une vision holistique grâce à la diversité des données</a:t>
            </a:r>
            <a:endParaRPr lang="en-US" sz="2475" dirty="0"/>
          </a:p>
        </p:txBody>
      </p:sp>
      <p:sp>
        <p:nvSpPr>
          <p:cNvPr id="10" name="Text 2"/>
          <p:cNvSpPr/>
          <p:nvPr/>
        </p:nvSpPr>
        <p:spPr>
          <a:xfrm>
            <a:off x="1504950" y="2524125"/>
            <a:ext cx="658368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Routes et Infrastructure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1504950" y="3495675"/>
            <a:ext cx="576072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Transport et Mobilité</a:t>
            </a:r>
            <a:endParaRPr lang="en-US" sz="1800" dirty="0"/>
          </a:p>
        </p:txBody>
      </p:sp>
      <p:sp>
        <p:nvSpPr>
          <p:cNvPr id="12" name="Text 4"/>
          <p:cNvSpPr/>
          <p:nvPr/>
        </p:nvSpPr>
        <p:spPr>
          <a:xfrm>
            <a:off x="1504950" y="4505325"/>
            <a:ext cx="521208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Démographie Urbaine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1504950" y="5534025"/>
            <a:ext cx="466344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Occupation du Sol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1504950" y="2886075"/>
            <a:ext cx="1207008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Caractéristiques géographiques des axes routiers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1504950" y="3895725"/>
            <a:ext cx="955548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Flux de véhicules, vitesses, incidents</a:t>
            </a:r>
            <a:endParaRPr lang="en-US" sz="1650" dirty="0"/>
          </a:p>
        </p:txBody>
      </p:sp>
      <p:sp>
        <p:nvSpPr>
          <p:cNvPr id="16" name="Text 8"/>
          <p:cNvSpPr/>
          <p:nvPr/>
        </p:nvSpPr>
        <p:spPr>
          <a:xfrm>
            <a:off x="1504950" y="4924425"/>
            <a:ext cx="930402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Répartition de la population par zone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1504950" y="5934075"/>
            <a:ext cx="1408176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des terrains : résidentiel, commercial, industriel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6096000" y="3895725"/>
            <a:ext cx="2755553" cy="7483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 CSV unifié
pour une intégration
optimale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553" y="6007596"/>
            <a:ext cx="499765" cy="4457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294" y="5980063"/>
            <a:ext cx="414486" cy="4731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5980063"/>
            <a:ext cx="499765" cy="4731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2494" y="2914650"/>
            <a:ext cx="938659" cy="79548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4800" y="2866579"/>
            <a:ext cx="877788" cy="88463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0180" y="2880271"/>
            <a:ext cx="731490" cy="86409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7059" y="2880271"/>
            <a:ext cx="841177" cy="857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7694" y="3168253"/>
            <a:ext cx="767953" cy="514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679" y="2852886"/>
            <a:ext cx="1011882" cy="912019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533400" y="866775"/>
            <a:ext cx="6223546" cy="120134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730"/>
              </a:lnSpc>
              <a:buNone/>
            </a:pPr>
            <a:r>
              <a:rPr lang="en-US" sz="3975" b="1" dirty="0">
                <a:solidFill>
                  <a:srgbClr val="1A1A1A"/>
                </a:solidFill>
                <a:latin typeface="Red Hat Display Variable" pitchFamily="34" charset="0"/>
                <a:ea typeface="Red Hat Display Variable" pitchFamily="34" charset="-122"/>
                <a:cs typeface="Red Hat Display Variable" pitchFamily="34" charset="-120"/>
              </a:rPr>
              <a:t>Architecture Data &amp;
Pipeline Technique</a:t>
            </a:r>
            <a:endParaRPr lang="en-US" sz="3975" dirty="0"/>
          </a:p>
        </p:txBody>
      </p:sp>
      <p:sp>
        <p:nvSpPr>
          <p:cNvPr id="13" name="Text 1"/>
          <p:cNvSpPr/>
          <p:nvPr/>
        </p:nvSpPr>
        <p:spPr>
          <a:xfrm>
            <a:off x="723900" y="3952875"/>
            <a:ext cx="354711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Extraction</a:t>
            </a:r>
            <a:endParaRPr lang="en-US" sz="1425" dirty="0"/>
          </a:p>
        </p:txBody>
      </p:sp>
      <p:sp>
        <p:nvSpPr>
          <p:cNvPr id="14" name="Text 2"/>
          <p:cNvSpPr/>
          <p:nvPr/>
        </p:nvSpPr>
        <p:spPr>
          <a:xfrm>
            <a:off x="3028950" y="3952875"/>
            <a:ext cx="332994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Nettoyage</a:t>
            </a:r>
            <a:endParaRPr lang="en-US" sz="1425" dirty="0"/>
          </a:p>
        </p:txBody>
      </p:sp>
      <p:sp>
        <p:nvSpPr>
          <p:cNvPr id="15" name="Text 3"/>
          <p:cNvSpPr/>
          <p:nvPr/>
        </p:nvSpPr>
        <p:spPr>
          <a:xfrm>
            <a:off x="5381625" y="3952875"/>
            <a:ext cx="311277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Stockage</a:t>
            </a:r>
            <a:endParaRPr lang="en-US" sz="1425" dirty="0"/>
          </a:p>
        </p:txBody>
      </p:sp>
      <p:sp>
        <p:nvSpPr>
          <p:cNvPr id="16" name="Text 4"/>
          <p:cNvSpPr/>
          <p:nvPr/>
        </p:nvSpPr>
        <p:spPr>
          <a:xfrm>
            <a:off x="7724775" y="3952875"/>
            <a:ext cx="289560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Analyse</a:t>
            </a:r>
            <a:endParaRPr lang="en-US" sz="1425" dirty="0"/>
          </a:p>
        </p:txBody>
      </p:sp>
      <p:sp>
        <p:nvSpPr>
          <p:cNvPr id="17" name="Text 5"/>
          <p:cNvSpPr/>
          <p:nvPr/>
        </p:nvSpPr>
        <p:spPr>
          <a:xfrm>
            <a:off x="9772650" y="3952875"/>
            <a:ext cx="419862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Visualisation</a:t>
            </a:r>
            <a:endParaRPr lang="en-US" sz="1425" dirty="0"/>
          </a:p>
        </p:txBody>
      </p:sp>
      <p:sp>
        <p:nvSpPr>
          <p:cNvPr id="18" name="Text 6"/>
          <p:cNvSpPr/>
          <p:nvPr/>
        </p:nvSpPr>
        <p:spPr>
          <a:xfrm>
            <a:off x="533400" y="6010275"/>
            <a:ext cx="3086100" cy="25538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F967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Outils utilisés</a:t>
            </a:r>
            <a:endParaRPr lang="en-US" sz="1350" dirty="0"/>
          </a:p>
        </p:txBody>
      </p:sp>
      <p:sp>
        <p:nvSpPr>
          <p:cNvPr id="19" name="Text 7"/>
          <p:cNvSpPr/>
          <p:nvPr/>
        </p:nvSpPr>
        <p:spPr>
          <a:xfrm>
            <a:off x="3409950" y="6010275"/>
            <a:ext cx="1371600" cy="1885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500" dirty="0"/>
          </a:p>
        </p:txBody>
      </p:sp>
      <p:sp>
        <p:nvSpPr>
          <p:cNvPr id="20" name="Text 8"/>
          <p:cNvSpPr/>
          <p:nvPr/>
        </p:nvSpPr>
        <p:spPr>
          <a:xfrm>
            <a:off x="6591300" y="6010275"/>
            <a:ext cx="685800" cy="1885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9696450" y="6010275"/>
            <a:ext cx="1645920" cy="169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533400" y="428625"/>
            <a:ext cx="5067300" cy="24244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10"/>
              </a:lnSpc>
              <a:buNone/>
            </a:pPr>
            <a:r>
              <a:rPr lang="en-US" sz="1425" dirty="0">
                <a:solidFill>
                  <a:srgbClr val="F967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Architecture Data</a:t>
            </a:r>
            <a:endParaRPr lang="en-US" sz="1425" dirty="0"/>
          </a:p>
        </p:txBody>
      </p:sp>
      <p:sp>
        <p:nvSpPr>
          <p:cNvPr id="23" name="Text 11"/>
          <p:cNvSpPr/>
          <p:nvPr/>
        </p:nvSpPr>
        <p:spPr>
          <a:xfrm>
            <a:off x="657225" y="4267200"/>
            <a:ext cx="1917353" cy="3854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517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 des données
CSV brutes</a:t>
            </a:r>
            <a:endParaRPr lang="en-US" sz="1275" dirty="0"/>
          </a:p>
        </p:txBody>
      </p:sp>
      <p:sp>
        <p:nvSpPr>
          <p:cNvPr id="24" name="Text 12"/>
          <p:cNvSpPr/>
          <p:nvPr/>
        </p:nvSpPr>
        <p:spPr>
          <a:xfrm>
            <a:off x="3095625" y="4267200"/>
            <a:ext cx="1603028" cy="5442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Correction,
uniformisation des
formats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5467350" y="4267200"/>
            <a:ext cx="1477268" cy="3628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Centralisation en
base de données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7543800" y="4267200"/>
            <a:ext cx="1917353" cy="3628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Méthodes statistiques
et algorithmiques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9982200" y="4267200"/>
            <a:ext cx="1582043" cy="3628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interactifs
pour la décision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3409950" y="6267450"/>
            <a:ext cx="3886200" cy="1602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62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&amp; Analyse</a:t>
            </a:r>
            <a:endParaRPr lang="en-US" sz="1275" dirty="0"/>
          </a:p>
        </p:txBody>
      </p:sp>
      <p:sp>
        <p:nvSpPr>
          <p:cNvPr id="29" name="Text 17"/>
          <p:cNvSpPr/>
          <p:nvPr/>
        </p:nvSpPr>
        <p:spPr>
          <a:xfrm>
            <a:off x="6591300" y="6267450"/>
            <a:ext cx="3291840" cy="150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88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&amp; Stockage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9696450" y="6267450"/>
            <a:ext cx="3840480" cy="150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88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&amp;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373" y="3161407"/>
            <a:ext cx="938659" cy="82287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290" y="3161407"/>
            <a:ext cx="938659" cy="8160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6282" y="3161407"/>
            <a:ext cx="828973" cy="82287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5757" y="1831032"/>
            <a:ext cx="1109365" cy="66511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8377" y="2050405"/>
            <a:ext cx="1962894" cy="37713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2173" y="1796653"/>
            <a:ext cx="1194792" cy="740569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57225" y="647700"/>
            <a:ext cx="17693640" cy="4874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838"/>
              </a:lnSpc>
              <a:buNone/>
            </a:pPr>
            <a:r>
              <a:rPr lang="en-US" sz="3225" b="1" dirty="0">
                <a:solidFill>
                  <a:srgbClr val="8811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Nettoyage et Fialisation des Données</a:t>
            </a:r>
            <a:endParaRPr lang="en-US" sz="3225" dirty="0"/>
          </a:p>
        </p:txBody>
      </p:sp>
      <p:sp>
        <p:nvSpPr>
          <p:cNvPr id="10" name="Text 1"/>
          <p:cNvSpPr/>
          <p:nvPr/>
        </p:nvSpPr>
        <p:spPr>
          <a:xfrm>
            <a:off x="657225" y="1171575"/>
            <a:ext cx="14813280" cy="3317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12"/>
              </a:lnSpc>
              <a:buNone/>
            </a:pPr>
            <a:r>
              <a:rPr lang="en-US" sz="2025" i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 données brutes fiables aux analyses robustes</a:t>
            </a:r>
            <a:endParaRPr lang="en-US" sz="2025" dirty="0"/>
          </a:p>
        </p:txBody>
      </p:sp>
      <p:sp>
        <p:nvSpPr>
          <p:cNvPr id="11" name="Text 2"/>
          <p:cNvSpPr/>
          <p:nvPr/>
        </p:nvSpPr>
        <p:spPr>
          <a:xfrm>
            <a:off x="-35763" y="4143375"/>
            <a:ext cx="4937760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Valeurs Manquantes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3771855" y="4143375"/>
            <a:ext cx="4937760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Doublons Supprimés</a:t>
            </a:r>
            <a:endParaRPr lang="en-US" sz="1800" dirty="0"/>
          </a:p>
        </p:txBody>
      </p:sp>
      <p:sp>
        <p:nvSpPr>
          <p:cNvPr id="13" name="Text 4"/>
          <p:cNvSpPr/>
          <p:nvPr/>
        </p:nvSpPr>
        <p:spPr>
          <a:xfrm>
            <a:off x="8124334" y="4143375"/>
            <a:ext cx="3566160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Normalisation</a:t>
            </a:r>
            <a:endParaRPr lang="en-US" sz="1800" dirty="0"/>
          </a:p>
        </p:txBody>
      </p:sp>
      <p:sp>
        <p:nvSpPr>
          <p:cNvPr id="14" name="Text 5"/>
          <p:cNvSpPr/>
          <p:nvPr/>
        </p:nvSpPr>
        <p:spPr>
          <a:xfrm>
            <a:off x="657225" y="342900"/>
            <a:ext cx="2743200" cy="2076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35"/>
              </a:lnSpc>
              <a:buNone/>
            </a:pPr>
            <a:r>
              <a:rPr lang="en-US" sz="1500" dirty="0">
                <a:solidFill>
                  <a:srgbClr val="F59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Méthodologie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4991769" y="2292696"/>
            <a:ext cx="2171700" cy="2696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23"/>
              </a:lnSpc>
              <a:buNone/>
            </a:pPr>
            <a:r>
              <a:rPr lang="en-US" sz="1425" dirty="0">
                <a:solidFill>
                  <a:srgbClr val="8811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Traitement</a:t>
            </a:r>
            <a:endParaRPr lang="en-US" sz="1425" dirty="0"/>
          </a:p>
        </p:txBody>
      </p:sp>
      <p:sp>
        <p:nvSpPr>
          <p:cNvPr id="16" name="Text 7"/>
          <p:cNvSpPr/>
          <p:nvPr/>
        </p:nvSpPr>
        <p:spPr>
          <a:xfrm>
            <a:off x="230014" y="4505325"/>
            <a:ext cx="46291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59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IDENTIFICATION &amp; IMPUTATION</a:t>
            </a:r>
            <a:endParaRPr lang="en-US" sz="1125" dirty="0"/>
          </a:p>
        </p:txBody>
      </p:sp>
      <p:sp>
        <p:nvSpPr>
          <p:cNvPr id="17" name="Text 8"/>
          <p:cNvSpPr/>
          <p:nvPr/>
        </p:nvSpPr>
        <p:spPr>
          <a:xfrm>
            <a:off x="5067300" y="4505325"/>
            <a:ext cx="22288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59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DÉDOUBLONNAGE</a:t>
            </a:r>
            <a:endParaRPr lang="en-US" sz="1125" dirty="0"/>
          </a:p>
        </p:txBody>
      </p:sp>
      <p:sp>
        <p:nvSpPr>
          <p:cNvPr id="18" name="Text 9"/>
          <p:cNvSpPr/>
          <p:nvPr/>
        </p:nvSpPr>
        <p:spPr>
          <a:xfrm>
            <a:off x="8548688" y="4505325"/>
            <a:ext cx="274320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59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FORMATS &amp; UNITÉS</a:t>
            </a:r>
            <a:endParaRPr lang="en-US" sz="1125" dirty="0"/>
          </a:p>
        </p:txBody>
      </p:sp>
      <p:sp>
        <p:nvSpPr>
          <p:cNvPr id="19" name="Text 10"/>
          <p:cNvSpPr/>
          <p:nvPr/>
        </p:nvSpPr>
        <p:spPr>
          <a:xfrm>
            <a:off x="838200" y="4819650"/>
            <a:ext cx="3415605" cy="5527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51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Détection et traitement des données
incomplètes par imputation ou
suppression ciblée.</a:t>
            </a:r>
            <a:endParaRPr lang="en-US" sz="1125" dirty="0"/>
          </a:p>
        </p:txBody>
      </p:sp>
      <p:sp>
        <p:nvSpPr>
          <p:cNvPr id="20" name="Text 11"/>
          <p:cNvSpPr/>
          <p:nvPr/>
        </p:nvSpPr>
        <p:spPr>
          <a:xfrm>
            <a:off x="4572000" y="4819650"/>
            <a:ext cx="3352800" cy="5527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51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Élimination des entrées redondantes
pour éviter les biais et assurer
l'unicité des enregistrements.</a:t>
            </a:r>
            <a:endParaRPr lang="en-US" sz="1125" dirty="0"/>
          </a:p>
        </p:txBody>
      </p:sp>
      <p:sp>
        <p:nvSpPr>
          <p:cNvPr id="21" name="Text 12"/>
          <p:cNvSpPr/>
          <p:nvPr/>
        </p:nvSpPr>
        <p:spPr>
          <a:xfrm>
            <a:off x="8296275" y="4819650"/>
            <a:ext cx="3394621" cy="5527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51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Uniformisation des formats, des
unités et des conventions pour une
comparabilité optimale des données.</a:t>
            </a:r>
            <a:endParaRPr lang="en-US" sz="1125" dirty="0"/>
          </a:p>
        </p:txBody>
      </p:sp>
      <p:sp>
        <p:nvSpPr>
          <p:cNvPr id="22" name="Text 13"/>
          <p:cNvSpPr/>
          <p:nvPr/>
        </p:nvSpPr>
        <p:spPr>
          <a:xfrm>
            <a:off x="862459" y="5781675"/>
            <a:ext cx="308610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Intégrité garantie</a:t>
            </a:r>
            <a:endParaRPr lang="en-US" sz="1125" dirty="0"/>
          </a:p>
        </p:txBody>
      </p:sp>
      <p:sp>
        <p:nvSpPr>
          <p:cNvPr id="23" name="Text 14"/>
          <p:cNvSpPr/>
          <p:nvPr/>
        </p:nvSpPr>
        <p:spPr>
          <a:xfrm>
            <a:off x="4871517" y="5781675"/>
            <a:ext cx="25717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Zéro redondance</a:t>
            </a:r>
            <a:endParaRPr lang="en-US" sz="1125" dirty="0"/>
          </a:p>
        </p:txBody>
      </p:sp>
      <p:sp>
        <p:nvSpPr>
          <p:cNvPr id="24" name="Text 15"/>
          <p:cNvSpPr/>
          <p:nvPr/>
        </p:nvSpPr>
        <p:spPr>
          <a:xfrm>
            <a:off x="8548167" y="5781675"/>
            <a:ext cx="274320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Cohérence totale</a:t>
            </a:r>
            <a:endParaRPr lang="en-US" sz="1125" dirty="0"/>
          </a:p>
        </p:txBody>
      </p:sp>
      <p:sp>
        <p:nvSpPr>
          <p:cNvPr id="25" name="Text 16"/>
          <p:cNvSpPr/>
          <p:nvPr/>
        </p:nvSpPr>
        <p:spPr>
          <a:xfrm>
            <a:off x="10385971" y="95250"/>
            <a:ext cx="16573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15</a:t>
            </a:r>
            <a:endParaRPr lang="en-US" sz="1125" dirty="0"/>
          </a:p>
        </p:txBody>
      </p:sp>
      <p:sp>
        <p:nvSpPr>
          <p:cNvPr id="26" name="Text 17"/>
          <p:cNvSpPr/>
          <p:nvPr/>
        </p:nvSpPr>
        <p:spPr>
          <a:xfrm>
            <a:off x="409575" y="6572250"/>
            <a:ext cx="92011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39"/>
              </a:lnSpc>
              <a:buNone/>
            </a:pPr>
            <a:r>
              <a:rPr lang="en-US" sz="11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Yassine Ammami — Data Analyst — Simplon — Mars 2026</a:t>
            </a:r>
            <a:endParaRPr lang="en-US" sz="1125" dirty="0"/>
          </a:p>
        </p:txBody>
      </p:sp>
      <p:sp>
        <p:nvSpPr>
          <p:cNvPr id="27" name="Text 18"/>
          <p:cNvSpPr/>
          <p:nvPr/>
        </p:nvSpPr>
        <p:spPr>
          <a:xfrm>
            <a:off x="8515350" y="6572250"/>
            <a:ext cx="788670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39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Analyse de la Congestion Routière - Casablanca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055" y="2482453"/>
            <a:ext cx="3340596" cy="25579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94" y="5013127"/>
            <a:ext cx="694879" cy="644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475" y="2976265"/>
            <a:ext cx="804565" cy="69264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76275" y="914400"/>
            <a:ext cx="20482560" cy="5814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578"/>
              </a:lnSpc>
              <a:buNone/>
            </a:pPr>
            <a:r>
              <a:rPr lang="en-US" sz="4200" b="1" dirty="0">
                <a:solidFill>
                  <a:srgbClr val="7A00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Analyse Exploratoire des Données</a:t>
            </a:r>
            <a:endParaRPr lang="en-US" sz="4200" dirty="0"/>
          </a:p>
        </p:txBody>
      </p:sp>
      <p:sp>
        <p:nvSpPr>
          <p:cNvPr id="7" name="Text 1"/>
          <p:cNvSpPr/>
          <p:nvPr/>
        </p:nvSpPr>
        <p:spPr>
          <a:xfrm>
            <a:off x="2076450" y="2714625"/>
            <a:ext cx="7360920" cy="31730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Tendances Structurelles</a:t>
            </a:r>
            <a:endParaRPr lang="en-US" sz="2100" dirty="0"/>
          </a:p>
        </p:txBody>
      </p:sp>
      <p:sp>
        <p:nvSpPr>
          <p:cNvPr id="8" name="Text 2"/>
          <p:cNvSpPr/>
          <p:nvPr/>
        </p:nvSpPr>
        <p:spPr>
          <a:xfrm>
            <a:off x="2076450" y="4686300"/>
            <a:ext cx="6080760" cy="31730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Anomalies Détectées</a:t>
            </a:r>
            <a:endParaRPr lang="en-US" sz="2100" dirty="0"/>
          </a:p>
        </p:txBody>
      </p:sp>
      <p:sp>
        <p:nvSpPr>
          <p:cNvPr id="9" name="Text 3"/>
          <p:cNvSpPr/>
          <p:nvPr/>
        </p:nvSpPr>
        <p:spPr>
          <a:xfrm>
            <a:off x="714375" y="619125"/>
            <a:ext cx="3154680" cy="2256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7"/>
              </a:lnSpc>
              <a:buNone/>
            </a:pPr>
            <a:r>
              <a:rPr lang="en-US" sz="1725" b="1" dirty="0">
                <a:solidFill>
                  <a:srgbClr val="F997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MÉTHODOLOGIE</a:t>
            </a:r>
            <a:endParaRPr lang="en-US" sz="1725" dirty="0"/>
          </a:p>
        </p:txBody>
      </p:sp>
      <p:sp>
        <p:nvSpPr>
          <p:cNvPr id="10" name="Text 4"/>
          <p:cNvSpPr/>
          <p:nvPr/>
        </p:nvSpPr>
        <p:spPr>
          <a:xfrm>
            <a:off x="714375" y="1695450"/>
            <a:ext cx="23362920" cy="37073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19"/>
              </a:lnSpc>
              <a:buNone/>
            </a:pPr>
            <a:r>
              <a:rPr lang="en-US" sz="2100" i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Identifier les tendances, détecter les anomalies, orienter les hypothèses</a:t>
            </a:r>
            <a:endParaRPr lang="en-US" sz="2100" dirty="0"/>
          </a:p>
        </p:txBody>
      </p:sp>
      <p:sp>
        <p:nvSpPr>
          <p:cNvPr id="11" name="Text 5"/>
          <p:cNvSpPr/>
          <p:nvPr/>
        </p:nvSpPr>
        <p:spPr>
          <a:xfrm>
            <a:off x="2076450" y="3133725"/>
            <a:ext cx="4599533" cy="8737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Schémas récurrents dans les flux de trafic
Pics de circulation aux heures de pointe
Variations selon les jours ouvrables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2076450" y="5105400"/>
            <a:ext cx="4306193" cy="8737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Points de données inhabituels identifiés
Événements ponctuels isolés
Données incohérentes signalées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296150" y="5505450"/>
            <a:ext cx="4536728" cy="5476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5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L'EDA a orienté les hypothèses vers les
axes temporels et géographiques</a:t>
            </a:r>
            <a:endParaRPr lang="en-US" sz="1725" dirty="0"/>
          </a:p>
        </p:txBody>
      </p:sp>
      <p:sp>
        <p:nvSpPr>
          <p:cNvPr id="14" name="Text 8"/>
          <p:cNvSpPr/>
          <p:nvPr/>
        </p:nvSpPr>
        <p:spPr>
          <a:xfrm>
            <a:off x="10423178" y="628650"/>
            <a:ext cx="685800" cy="169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F997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803136" y="628650"/>
            <a:ext cx="685800" cy="169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337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14375" y="6619875"/>
            <a:ext cx="11521440" cy="150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88"/>
              </a:lnSpc>
              <a:buNone/>
            </a:pPr>
            <a:r>
              <a:rPr lang="en-US" sz="1200" dirty="0">
                <a:solidFill>
                  <a:srgbClr val="7979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: Données de trafic Casablanca — Analyse Python / Pandas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769" y="2441377"/>
            <a:ext cx="3255169" cy="26882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859" y="1776115"/>
            <a:ext cx="536377" cy="47997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4682" y="2427684"/>
            <a:ext cx="3438079" cy="272935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6886" y="1782961"/>
            <a:ext cx="511969" cy="4731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486" y="2571750"/>
            <a:ext cx="3450282" cy="2530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357" y="1769269"/>
            <a:ext cx="463153" cy="486817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66725" y="647700"/>
            <a:ext cx="21122640" cy="4987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927"/>
              </a:lnSpc>
              <a:buNone/>
            </a:pPr>
            <a:r>
              <a:rPr lang="en-US" sz="3300" b="1" dirty="0">
                <a:solidFill>
                  <a:srgbClr val="B5121D"/>
                </a:solidFill>
                <a:latin typeface="Fira Sans Extra" pitchFamily="34" charset="0"/>
                <a:ea typeface="Fira Sans Extra" pitchFamily="34" charset="-122"/>
                <a:cs typeface="Fira Sans Extra" pitchFamily="34" charset="-120"/>
              </a:rPr>
              <a:t>Analyse Spatio-Temporelle de la Congestion</a:t>
            </a:r>
            <a:endParaRPr lang="en-US" sz="3300" dirty="0"/>
          </a:p>
        </p:txBody>
      </p:sp>
      <p:sp>
        <p:nvSpPr>
          <p:cNvPr id="10" name="Text 1"/>
          <p:cNvSpPr/>
          <p:nvPr/>
        </p:nvSpPr>
        <p:spPr>
          <a:xfrm>
            <a:off x="1019175" y="1838325"/>
            <a:ext cx="4560570" cy="2780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191919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Congestion par Jour</a:t>
            </a:r>
            <a:endParaRPr lang="en-US" sz="1575" dirty="0"/>
          </a:p>
        </p:txBody>
      </p:sp>
      <p:sp>
        <p:nvSpPr>
          <p:cNvPr id="11" name="Text 2"/>
          <p:cNvSpPr/>
          <p:nvPr/>
        </p:nvSpPr>
        <p:spPr>
          <a:xfrm>
            <a:off x="5038725" y="1838325"/>
            <a:ext cx="5257800" cy="2647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191919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Axes Routiers Critiques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8943975" y="1838325"/>
            <a:ext cx="4777740" cy="2515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191919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Congestion par Commune</a:t>
            </a:r>
            <a:endParaRPr lang="en-US" sz="1425" dirty="0"/>
          </a:p>
        </p:txBody>
      </p:sp>
      <p:sp>
        <p:nvSpPr>
          <p:cNvPr id="13" name="Text 4"/>
          <p:cNvSpPr/>
          <p:nvPr/>
        </p:nvSpPr>
        <p:spPr>
          <a:xfrm>
            <a:off x="596205" y="5419725"/>
            <a:ext cx="3257550" cy="2533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99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Mardi &amp; Jeudi ↑</a:t>
            </a:r>
            <a:endParaRPr lang="en-US" sz="1425" dirty="0"/>
          </a:p>
        </p:txBody>
      </p:sp>
      <p:sp>
        <p:nvSpPr>
          <p:cNvPr id="14" name="Text 5"/>
          <p:cNvSpPr/>
          <p:nvPr/>
        </p:nvSpPr>
        <p:spPr>
          <a:xfrm>
            <a:off x="3857089" y="5419725"/>
            <a:ext cx="4732020" cy="2400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Points noirs identifiés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8462933" y="5419725"/>
            <a:ext cx="3291840" cy="2400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Indice 181 pts</a:t>
            </a: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466725" y="323850"/>
            <a:ext cx="4343400" cy="2266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ANALYSE DES DONNÉES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9835426" y="323850"/>
            <a:ext cx="1988820" cy="2040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607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09 / 15</a:t>
            </a:r>
            <a:endParaRPr lang="en-US" sz="1350" dirty="0"/>
          </a:p>
        </p:txBody>
      </p:sp>
      <p:sp>
        <p:nvSpPr>
          <p:cNvPr id="18" name="Text 9"/>
          <p:cNvSpPr/>
          <p:nvPr/>
        </p:nvSpPr>
        <p:spPr>
          <a:xfrm>
            <a:off x="-2824177" y="6419850"/>
            <a:ext cx="18676620" cy="21535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96"/>
              </a:lnSpc>
              <a:buNone/>
            </a:pPr>
            <a:r>
              <a:rPr lang="en-US" sz="1425" dirty="0">
                <a:solidFill>
                  <a:srgbClr val="191919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 conducteur casablancais perd en moyenne 150 heures par an dans les embouteillages</a:t>
            </a:r>
            <a:endParaRPr lang="en-US" sz="1425" dirty="0"/>
          </a:p>
        </p:txBody>
      </p:sp>
      <p:sp>
        <p:nvSpPr>
          <p:cNvPr id="19" name="Text 10"/>
          <p:cNvSpPr/>
          <p:nvPr/>
        </p:nvSpPr>
        <p:spPr>
          <a:xfrm>
            <a:off x="-711518" y="5781675"/>
            <a:ext cx="5966460" cy="2280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796"/>
              </a:lnSpc>
              <a:buNone/>
            </a:pPr>
            <a:r>
              <a:rPr lang="en-US" sz="1350" i="1" dirty="0">
                <a:solidFill>
                  <a:srgbClr val="191919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Pics de saturation en semaine</a:t>
            </a:r>
            <a:endParaRPr lang="en-US" sz="1350" dirty="0"/>
          </a:p>
        </p:txBody>
      </p:sp>
      <p:sp>
        <p:nvSpPr>
          <p:cNvPr id="20" name="Text 11"/>
          <p:cNvSpPr/>
          <p:nvPr/>
        </p:nvSpPr>
        <p:spPr>
          <a:xfrm>
            <a:off x="2854136" y="5781675"/>
            <a:ext cx="6789420" cy="2280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796"/>
              </a:lnSpc>
              <a:buNone/>
            </a:pPr>
            <a:r>
              <a:rPr lang="en-US" sz="1350" i="1" dirty="0">
                <a:solidFill>
                  <a:srgbClr val="191919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Zones à forte activité économique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6614130" y="5781675"/>
            <a:ext cx="7189470" cy="21535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96"/>
              </a:lnSpc>
              <a:buNone/>
            </a:pPr>
            <a:r>
              <a:rPr lang="en-US" sz="1275" i="1" dirty="0">
                <a:solidFill>
                  <a:srgbClr val="191919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Centre-ville &amp; pôles d'emploi saturés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879" y="2297311"/>
            <a:ext cx="975271" cy="96009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773" y="2228850"/>
            <a:ext cx="1121569" cy="109031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14375" y="914400"/>
            <a:ext cx="19236690" cy="55378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361"/>
              </a:lnSpc>
              <a:buNone/>
            </a:pPr>
            <a:r>
              <a:rPr lang="en-US" sz="38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Gestion de Projet &amp; Collaboration</a:t>
            </a:r>
            <a:endParaRPr lang="en-US" sz="3825" dirty="0"/>
          </a:p>
        </p:txBody>
      </p:sp>
      <p:sp>
        <p:nvSpPr>
          <p:cNvPr id="6" name="Text 1"/>
          <p:cNvSpPr/>
          <p:nvPr/>
        </p:nvSpPr>
        <p:spPr>
          <a:xfrm>
            <a:off x="2552700" y="2381250"/>
            <a:ext cx="2468880" cy="4594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618"/>
              </a:lnSpc>
              <a:buNone/>
            </a:pPr>
            <a:r>
              <a:rPr lang="en-US" sz="27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8124825" y="2381250"/>
            <a:ext cx="2468880" cy="4594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618"/>
              </a:lnSpc>
              <a:buNone/>
            </a:pPr>
            <a:r>
              <a:rPr lang="en-US" sz="27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Trello</a:t>
            </a:r>
            <a:endParaRPr lang="en-US" sz="2700" dirty="0"/>
          </a:p>
        </p:txBody>
      </p:sp>
      <p:sp>
        <p:nvSpPr>
          <p:cNvPr id="8" name="Text 3"/>
          <p:cNvSpPr/>
          <p:nvPr/>
        </p:nvSpPr>
        <p:spPr>
          <a:xfrm>
            <a:off x="714375" y="581025"/>
            <a:ext cx="3120390" cy="2400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9A8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OUTILS PROJET</a:t>
            </a:r>
            <a:endParaRPr lang="en-US" sz="1575" dirty="0"/>
          </a:p>
        </p:txBody>
      </p:sp>
      <p:sp>
        <p:nvSpPr>
          <p:cNvPr id="9" name="Text 4"/>
          <p:cNvSpPr/>
          <p:nvPr/>
        </p:nvSpPr>
        <p:spPr>
          <a:xfrm>
            <a:off x="2552700" y="2895600"/>
            <a:ext cx="713232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22"/>
              </a:lnSpc>
              <a:buNone/>
            </a:pPr>
            <a:r>
              <a:rPr lang="en-US" sz="18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Versioning &amp; Collaboration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8124825" y="2895600"/>
            <a:ext cx="768096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22"/>
              </a:lnSpc>
              <a:buNone/>
            </a:pPr>
            <a:r>
              <a:rPr lang="en-US" sz="18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Planification Agile / Kanban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19225" y="3609975"/>
            <a:ext cx="4672905" cy="58697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12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Gestion de version du code Python et
SQL</a:t>
            </a:r>
            <a:endParaRPr lang="en-US" sz="1725" dirty="0"/>
          </a:p>
        </p:txBody>
      </p:sp>
      <p:sp>
        <p:nvSpPr>
          <p:cNvPr id="12" name="Text 7"/>
          <p:cNvSpPr/>
          <p:nvPr/>
        </p:nvSpPr>
        <p:spPr>
          <a:xfrm>
            <a:off x="1419225" y="4267200"/>
            <a:ext cx="4735711" cy="5616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11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Suivi des modifications et historique des
commits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419225" y="4933950"/>
            <a:ext cx="9601200" cy="29006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84"/>
              </a:lnSpc>
              <a:buNone/>
            </a:pPr>
            <a:endParaRPr lang="en-US" sz="1575" dirty="0"/>
          </a:p>
        </p:txBody>
      </p:sp>
      <p:sp>
        <p:nvSpPr>
          <p:cNvPr id="14" name="Text 9"/>
          <p:cNvSpPr/>
          <p:nvPr/>
        </p:nvSpPr>
        <p:spPr>
          <a:xfrm>
            <a:off x="1419225" y="5032697"/>
            <a:ext cx="4547146" cy="4988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Branches dédiées par fonctionnalité du
pipeline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105650" y="3609975"/>
            <a:ext cx="4253805" cy="5616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11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Organisation en colonnes : To Do / In
Progress / Done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105650" y="4238625"/>
            <a:ext cx="3740348" cy="5360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11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Suivi des étapes du pipeline data
(collecte vers dashboard)</a:t>
            </a:r>
            <a:endParaRPr lang="en-US" sz="1575" dirty="0"/>
          </a:p>
        </p:txBody>
      </p:sp>
      <p:sp>
        <p:nvSpPr>
          <p:cNvPr id="17" name="Text 12"/>
          <p:cNvSpPr/>
          <p:nvPr/>
        </p:nvSpPr>
        <p:spPr>
          <a:xfrm>
            <a:off x="7105650" y="4838700"/>
            <a:ext cx="4337596" cy="5360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11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Assignation des tâches et respect des
deadlines</a:t>
            </a:r>
            <a:endParaRPr lang="en-US" sz="1575" dirty="0"/>
          </a:p>
        </p:txBody>
      </p:sp>
      <p:sp>
        <p:nvSpPr>
          <p:cNvPr id="18" name="Text 13"/>
          <p:cNvSpPr/>
          <p:nvPr/>
        </p:nvSpPr>
        <p:spPr>
          <a:xfrm>
            <a:off x="7105650" y="5495925"/>
            <a:ext cx="4327178" cy="5360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11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Méthode Agile adaptée au projet Data
Analyst</a:t>
            </a:r>
            <a:endParaRPr lang="en-US" sz="1575" dirty="0"/>
          </a:p>
        </p:txBody>
      </p:sp>
      <p:sp>
        <p:nvSpPr>
          <p:cNvPr id="19" name="Text 14"/>
          <p:cNvSpPr/>
          <p:nvPr/>
        </p:nvSpPr>
        <p:spPr>
          <a:xfrm>
            <a:off x="10516493" y="590550"/>
            <a:ext cx="571500" cy="1413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F9A8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10472708" y="590550"/>
            <a:ext cx="1036320" cy="1602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262"/>
              </a:lnSpc>
              <a:buNone/>
            </a:pPr>
            <a:r>
              <a:rPr lang="en-US" sz="127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15</a:t>
            </a:r>
            <a:endParaRPr lang="en-US" sz="1275" dirty="0"/>
          </a:p>
        </p:txBody>
      </p:sp>
      <p:sp>
        <p:nvSpPr>
          <p:cNvPr id="21" name="Text 16"/>
          <p:cNvSpPr/>
          <p:nvPr/>
        </p:nvSpPr>
        <p:spPr>
          <a:xfrm>
            <a:off x="714375" y="6629400"/>
            <a:ext cx="10401300" cy="1320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04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: Outils et documentation interne — Collaboration d'équipe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96" y="1961257"/>
            <a:ext cx="5449788" cy="376490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86" y="4773067"/>
            <a:ext cx="524173" cy="50735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79" y="3332857"/>
            <a:ext cx="597396" cy="514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75" y="1892796"/>
            <a:ext cx="633859" cy="57596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0550" y="600075"/>
            <a:ext cx="21556980" cy="5213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106"/>
              </a:lnSpc>
              <a:buNone/>
            </a:pPr>
            <a:r>
              <a:rPr lang="en-US" sz="34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 Power BI : Pilotage Décisionnel</a:t>
            </a:r>
            <a:endParaRPr lang="en-US" sz="3450" dirty="0"/>
          </a:p>
        </p:txBody>
      </p:sp>
      <p:sp>
        <p:nvSpPr>
          <p:cNvPr id="8" name="Text 1"/>
          <p:cNvSpPr/>
          <p:nvPr/>
        </p:nvSpPr>
        <p:spPr>
          <a:xfrm>
            <a:off x="1524000" y="1905000"/>
            <a:ext cx="5246370" cy="3059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en Temps Réel</a:t>
            </a:r>
            <a:endParaRPr lang="en-US" sz="2025" dirty="0"/>
          </a:p>
        </p:txBody>
      </p:sp>
      <p:sp>
        <p:nvSpPr>
          <p:cNvPr id="9" name="Text 2"/>
          <p:cNvSpPr/>
          <p:nvPr/>
        </p:nvSpPr>
        <p:spPr>
          <a:xfrm>
            <a:off x="1524000" y="3343275"/>
            <a:ext cx="521208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Cartes Interactives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1524000" y="4781550"/>
            <a:ext cx="4937760" cy="27205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Filtres Dynamiques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1524000" y="2314575"/>
            <a:ext cx="3467993" cy="56524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25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TTI moyen, routes critiques,
distance parcourue</a:t>
            </a:r>
            <a:endParaRPr lang="en-US" sz="1725" dirty="0"/>
          </a:p>
        </p:txBody>
      </p:sp>
      <p:sp>
        <p:nvSpPr>
          <p:cNvPr id="12" name="Text 5"/>
          <p:cNvSpPr/>
          <p:nvPr/>
        </p:nvSpPr>
        <p:spPr>
          <a:xfrm>
            <a:off x="1524000" y="3752850"/>
            <a:ext cx="4054673" cy="56524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25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Visualisation géographique de la
congestion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1524000" y="5191125"/>
            <a:ext cx="8412480" cy="30450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 jour, commune, type de route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-1923589" y="6086475"/>
            <a:ext cx="17042130" cy="2780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Interface intuitive permettant l'analyse rapide et l'aide à la décision</a:t>
            </a:r>
            <a:endParaRPr lang="en-US" sz="15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4128492"/>
            <a:ext cx="877788" cy="106977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0659" y="4142184"/>
            <a:ext cx="1170384" cy="10697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761" y="4142184"/>
            <a:ext cx="1182588" cy="106293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6196" y="1865263"/>
            <a:ext cx="2084784" cy="200248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857750" y="2038350"/>
            <a:ext cx="6880860" cy="9748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7676"/>
              </a:lnSpc>
              <a:buNone/>
            </a:pPr>
            <a:r>
              <a:rPr lang="en-US" sz="6450" b="1" dirty="0">
                <a:solidFill>
                  <a:srgbClr val="F97F24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150 H</a:t>
            </a:r>
            <a:endParaRPr lang="en-US" sz="6450" dirty="0"/>
          </a:p>
        </p:txBody>
      </p:sp>
      <p:sp>
        <p:nvSpPr>
          <p:cNvPr id="8" name="Text 1"/>
          <p:cNvSpPr/>
          <p:nvPr/>
        </p:nvSpPr>
        <p:spPr>
          <a:xfrm>
            <a:off x="714375" y="809625"/>
            <a:ext cx="16047720" cy="5893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641"/>
              </a:lnSpc>
              <a:buNone/>
            </a:pPr>
            <a:r>
              <a:rPr lang="en-US" sz="3900" b="1" dirty="0">
                <a:solidFill>
                  <a:srgbClr val="6A051A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Ce que les données révèlent</a:t>
            </a:r>
            <a:endParaRPr lang="en-US" sz="3900" dirty="0"/>
          </a:p>
        </p:txBody>
      </p:sp>
      <p:sp>
        <p:nvSpPr>
          <p:cNvPr id="9" name="Text 2"/>
          <p:cNvSpPr/>
          <p:nvPr/>
        </p:nvSpPr>
        <p:spPr>
          <a:xfrm>
            <a:off x="93762" y="5334000"/>
            <a:ext cx="4629150" cy="3059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6A051A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7h30 - 9h30</a:t>
            </a:r>
            <a:endParaRPr lang="en-US" sz="2025" dirty="0"/>
          </a:p>
        </p:txBody>
      </p:sp>
      <p:sp>
        <p:nvSpPr>
          <p:cNvPr id="10" name="Text 3"/>
          <p:cNvSpPr/>
          <p:nvPr/>
        </p:nvSpPr>
        <p:spPr>
          <a:xfrm>
            <a:off x="3394174" y="5334000"/>
            <a:ext cx="5657850" cy="3059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6A051A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17h00 - 19h30</a:t>
            </a:r>
            <a:endParaRPr lang="en-US" sz="2025" dirty="0"/>
          </a:p>
        </p:txBody>
      </p:sp>
      <p:sp>
        <p:nvSpPr>
          <p:cNvPr id="11" name="Text 4"/>
          <p:cNvSpPr/>
          <p:nvPr/>
        </p:nvSpPr>
        <p:spPr>
          <a:xfrm>
            <a:off x="7921436" y="5334000"/>
            <a:ext cx="4217670" cy="3059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6A051A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Top 8 Afrique</a:t>
            </a:r>
            <a:endParaRPr lang="en-US" sz="2025" dirty="0"/>
          </a:p>
        </p:txBody>
      </p:sp>
      <p:sp>
        <p:nvSpPr>
          <p:cNvPr id="12" name="Text 5"/>
          <p:cNvSpPr/>
          <p:nvPr/>
        </p:nvSpPr>
        <p:spPr>
          <a:xfrm>
            <a:off x="714375" y="466725"/>
            <a:ext cx="3417570" cy="2607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053"/>
              </a:lnSpc>
              <a:buNone/>
            </a:pPr>
            <a:r>
              <a:rPr lang="en-US" sz="1725" kern="0" spc="60" dirty="0">
                <a:solidFill>
                  <a:srgbClr val="6A051A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INSIGHTS CLÉS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4857750" y="3133725"/>
            <a:ext cx="5081588" cy="5825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perdues par conducteur chaque année
dans les embouteillages de Casablanca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714375" y="5715000"/>
            <a:ext cx="3488978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Pic de saturation matinal — trafic
le plus dense de la journée</a:t>
            </a:r>
            <a:endParaRPr lang="en-US" sz="1425" dirty="0"/>
          </a:p>
        </p:txBody>
      </p:sp>
      <p:sp>
        <p:nvSpPr>
          <p:cNvPr id="15" name="Text 8"/>
          <p:cNvSpPr/>
          <p:nvPr/>
        </p:nvSpPr>
        <p:spPr>
          <a:xfrm>
            <a:off x="4495800" y="5715000"/>
            <a:ext cx="3541365" cy="4533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Retour domicile — congestion
maximale sur les axes principaux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8277225" y="5715000"/>
            <a:ext cx="3604171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Indice de congestion de 181 points
— comparable à New York et Pékin</a:t>
            </a:r>
            <a:endParaRPr lang="en-US" sz="1425" dirty="0"/>
          </a:p>
        </p:txBody>
      </p:sp>
      <p:sp>
        <p:nvSpPr>
          <p:cNvPr id="17" name="Text 10"/>
          <p:cNvSpPr/>
          <p:nvPr/>
        </p:nvSpPr>
        <p:spPr>
          <a:xfrm>
            <a:off x="1906890" y="6638925"/>
            <a:ext cx="8747760" cy="1320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04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Source : Numbeo 2025 · Silicon Valley Maroc · Le New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886" y="4505623"/>
            <a:ext cx="1999357" cy="143321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361" y="1645890"/>
            <a:ext cx="792361" cy="7268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357" y="4574232"/>
            <a:ext cx="2072580" cy="136460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7592" y="1639044"/>
            <a:ext cx="816769" cy="72003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4479" y="4512469"/>
            <a:ext cx="1865263" cy="146759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898" y="1549896"/>
            <a:ext cx="597396" cy="822871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3466654" y="581025"/>
            <a:ext cx="20002500" cy="5715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990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Recommandations et Solutions Métier</a:t>
            </a:r>
            <a:endParaRPr lang="en-US" sz="3750" dirty="0"/>
          </a:p>
        </p:txBody>
      </p:sp>
      <p:sp>
        <p:nvSpPr>
          <p:cNvPr id="10" name="Text 1"/>
          <p:cNvSpPr/>
          <p:nvPr/>
        </p:nvSpPr>
        <p:spPr>
          <a:xfrm>
            <a:off x="1543050" y="1647825"/>
            <a:ext cx="2210693" cy="6935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57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
Smart</a:t>
            </a:r>
            <a:endParaRPr lang="en-US" sz="2100" dirty="0"/>
          </a:p>
        </p:txBody>
      </p:sp>
      <p:sp>
        <p:nvSpPr>
          <p:cNvPr id="11" name="Text 2"/>
          <p:cNvSpPr/>
          <p:nvPr/>
        </p:nvSpPr>
        <p:spPr>
          <a:xfrm>
            <a:off x="5486400" y="1647825"/>
            <a:ext cx="1498253" cy="6935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388E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Mobilités
Durables</a:t>
            </a:r>
            <a:endParaRPr lang="en-US" sz="2100" dirty="0"/>
          </a:p>
        </p:txBody>
      </p:sp>
      <p:sp>
        <p:nvSpPr>
          <p:cNvPr id="12" name="Text 3"/>
          <p:cNvSpPr/>
          <p:nvPr/>
        </p:nvSpPr>
        <p:spPr>
          <a:xfrm>
            <a:off x="9334500" y="1647825"/>
            <a:ext cx="2210693" cy="6935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9C1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
Moderne</a:t>
            </a:r>
            <a:endParaRPr lang="en-US" sz="2100" dirty="0"/>
          </a:p>
        </p:txBody>
      </p:sp>
      <p:sp>
        <p:nvSpPr>
          <p:cNvPr id="13" name="Text 4"/>
          <p:cNvSpPr/>
          <p:nvPr/>
        </p:nvSpPr>
        <p:spPr>
          <a:xfrm>
            <a:off x="895350" y="2590800"/>
            <a:ext cx="3048893" cy="6935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Gestion Intelligente
du Trafic</a:t>
            </a:r>
            <a:endParaRPr lang="en-US" sz="2100" dirty="0"/>
          </a:p>
        </p:txBody>
      </p:sp>
      <p:sp>
        <p:nvSpPr>
          <p:cNvPr id="14" name="Text 5"/>
          <p:cNvSpPr/>
          <p:nvPr/>
        </p:nvSpPr>
        <p:spPr>
          <a:xfrm>
            <a:off x="4714875" y="2590800"/>
            <a:ext cx="3080296" cy="6935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Mobilités Douces et
Partagées</a:t>
            </a:r>
            <a:endParaRPr lang="en-US" sz="2100" dirty="0"/>
          </a:p>
        </p:txBody>
      </p:sp>
      <p:sp>
        <p:nvSpPr>
          <p:cNvPr id="15" name="Text 6"/>
          <p:cNvSpPr/>
          <p:nvPr/>
        </p:nvSpPr>
        <p:spPr>
          <a:xfrm>
            <a:off x="8782050" y="2590800"/>
            <a:ext cx="2629793" cy="6935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Amélioration des
Infrastructures</a:t>
            </a:r>
            <a:endParaRPr lang="en-US" sz="2100" dirty="0"/>
          </a:p>
        </p:txBody>
      </p:sp>
      <p:sp>
        <p:nvSpPr>
          <p:cNvPr id="16" name="Text 7"/>
          <p:cNvSpPr/>
          <p:nvPr/>
        </p:nvSpPr>
        <p:spPr>
          <a:xfrm>
            <a:off x="-3108499" y="6276975"/>
            <a:ext cx="19202400" cy="3199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Objectif : Réduction de 13% des émissions GES d'ici 2030</a:t>
            </a:r>
            <a:endParaRPr lang="en-US" sz="2100" dirty="0"/>
          </a:p>
        </p:txBody>
      </p:sp>
      <p:sp>
        <p:nvSpPr>
          <p:cNvPr id="17" name="Text 8"/>
          <p:cNvSpPr/>
          <p:nvPr/>
        </p:nvSpPr>
        <p:spPr>
          <a:xfrm>
            <a:off x="742950" y="3429000"/>
            <a:ext cx="3509963" cy="9202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Poste Central de Trafic (PCT)
• IA pour feux adaptatifs
• Capteurs temps réel</a:t>
            </a:r>
            <a:endParaRPr lang="en-US" sz="1725" dirty="0"/>
          </a:p>
        </p:txBody>
      </p:sp>
      <p:sp>
        <p:nvSpPr>
          <p:cNvPr id="18" name="Text 9"/>
          <p:cNvSpPr/>
          <p:nvPr/>
        </p:nvSpPr>
        <p:spPr>
          <a:xfrm>
            <a:off x="4667250" y="3429000"/>
            <a:ext cx="3331815" cy="9202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Zones piétonnes sécurisées
• Réseau cyclable étendu
• Covoiturage intelligent</a:t>
            </a:r>
            <a:endParaRPr lang="en-US" sz="1725" dirty="0"/>
          </a:p>
        </p:txBody>
      </p:sp>
      <p:sp>
        <p:nvSpPr>
          <p:cNvPr id="19" name="Text 10"/>
          <p:cNvSpPr/>
          <p:nvPr/>
        </p:nvSpPr>
        <p:spPr>
          <a:xfrm>
            <a:off x="8515350" y="3429000"/>
            <a:ext cx="3405188" cy="9202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Réseau intermodal étendu
• Parkings relais connectés
• Transport en commun BHNS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757" y="1728192"/>
            <a:ext cx="3340596" cy="23179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600075"/>
            <a:ext cx="18859500" cy="6286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en-US" sz="4125" b="1" dirty="0">
                <a:solidFill>
                  <a:srgbClr val="8B1A2D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Conclusion et Valeur du Projet</a:t>
            </a:r>
            <a:endParaRPr lang="en-US" sz="4125" dirty="0"/>
          </a:p>
        </p:txBody>
      </p:sp>
      <p:sp>
        <p:nvSpPr>
          <p:cNvPr id="5" name="Text 1"/>
          <p:cNvSpPr/>
          <p:nvPr/>
        </p:nvSpPr>
        <p:spPr>
          <a:xfrm>
            <a:off x="714375" y="1733550"/>
            <a:ext cx="5120640" cy="3199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8B1A2D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Résultats Obtenu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905750" y="1733550"/>
            <a:ext cx="8001000" cy="3199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8B1A2D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Valeur de la Data Science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4733925" y="4438650"/>
            <a:ext cx="4937760" cy="3086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4A4A4A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Impact Mesurable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1076325" y="2352675"/>
            <a:ext cx="3237458" cy="6438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35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Identification des zones
critiques de congestion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076325" y="3276600"/>
            <a:ext cx="3614738" cy="9286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Quantification de l'impact :
150h/an perdues par
conducteur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1076325" y="4476750"/>
            <a:ext cx="3415605" cy="619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Cartographie précise des
flux de trafic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076325" y="5400675"/>
            <a:ext cx="3467993" cy="619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Corrélations entre densité
et congestion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4733925" y="4895850"/>
            <a:ext cx="3593753" cy="11394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Réduction potentielle de
25% du temps de trajet
grâce aux recommandations
data-driven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8639175" y="2352675"/>
            <a:ext cx="3321248" cy="619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Décisions basées sur des
données factuelles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8639175" y="3276600"/>
            <a:ext cx="2210693" cy="8916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Optimisation des
infrastructures
existantes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639175" y="4476750"/>
            <a:ext cx="3143250" cy="619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Prédiction et prévention
des embouteillages</a:t>
            </a:r>
            <a:endParaRPr lang="en-US" sz="1875" dirty="0"/>
          </a:p>
        </p:txBody>
      </p:sp>
      <p:sp>
        <p:nvSpPr>
          <p:cNvPr id="16" name="Text 12"/>
          <p:cNvSpPr/>
          <p:nvPr/>
        </p:nvSpPr>
        <p:spPr>
          <a:xfrm>
            <a:off x="8639175" y="5400675"/>
            <a:ext cx="2839343" cy="5944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Amélioration de la
qualité de vie urbaine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357" y="4142184"/>
            <a:ext cx="511969" cy="5485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459" y="4142184"/>
            <a:ext cx="548580" cy="5485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377" y="4210794"/>
            <a:ext cx="560784" cy="39766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8173" y="1961257"/>
            <a:ext cx="8071098" cy="1906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-3893820" y="638175"/>
            <a:ext cx="20208240" cy="5893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641"/>
              </a:lnSpc>
              <a:buNone/>
            </a:pPr>
            <a:r>
              <a:rPr lang="en-US" sz="3900" b="1" dirty="0">
                <a:solidFill>
                  <a:srgbClr val="47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Perspectives et Évolutions Futures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-3277076" y="1352550"/>
            <a:ext cx="19522440" cy="34409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709"/>
              </a:lnSpc>
              <a:buNone/>
            </a:pPr>
            <a:r>
              <a:rPr lang="en-US" sz="2100" b="1" i="1" dirty="0">
                <a:solidFill>
                  <a:srgbClr val="221F2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Vers une mobilité urbaine intelligente, prédictive et durable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-141506" y="4848225"/>
            <a:ext cx="528066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47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Données en Temps Réel</a:t>
            </a:r>
            <a:endParaRPr lang="en-US" sz="1650" dirty="0"/>
          </a:p>
        </p:txBody>
      </p:sp>
      <p:sp>
        <p:nvSpPr>
          <p:cNvPr id="10" name="Text 3"/>
          <p:cNvSpPr/>
          <p:nvPr/>
        </p:nvSpPr>
        <p:spPr>
          <a:xfrm>
            <a:off x="2395046" y="4848225"/>
            <a:ext cx="779526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47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Prédiction par Machine Learning</a:t>
            </a:r>
            <a:endParaRPr lang="en-US" sz="1650" dirty="0"/>
          </a:p>
        </p:txBody>
      </p:sp>
      <p:sp>
        <p:nvSpPr>
          <p:cNvPr id="11" name="Text 4"/>
          <p:cNvSpPr/>
          <p:nvPr/>
        </p:nvSpPr>
        <p:spPr>
          <a:xfrm>
            <a:off x="7348046" y="4848225"/>
            <a:ext cx="528066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47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Systèmes Intelligents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4841513" y="342900"/>
            <a:ext cx="2674620" cy="2040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967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 L'AVENIR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838200" y="5200650"/>
            <a:ext cx="3467993" cy="7148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Intégrer des capteurs de trafic et des
flux GPS en direct pour une analyse
dynamique et une réactivité immédiate.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495800" y="5229225"/>
            <a:ext cx="3551783" cy="7148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Développer des modèles prédictifs pour
anticiper les embouteillages et
optimiser les itinéraires en temps réel.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305800" y="5229225"/>
            <a:ext cx="3426023" cy="7148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Déployer des feux adaptatifs, des
plateformes de gestion de la demande
et des solutions Smart City intégrées.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10248900" y="6524625"/>
            <a:ext cx="16573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339"/>
              </a:lnSpc>
              <a:buNone/>
            </a:pPr>
            <a:r>
              <a:rPr lang="en-US" sz="1125" dirty="0">
                <a:solidFill>
                  <a:srgbClr val="F967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15</a:t>
            </a:r>
            <a:endParaRPr lang="en-US" sz="1125" dirty="0"/>
          </a:p>
        </p:txBody>
      </p:sp>
      <p:sp>
        <p:nvSpPr>
          <p:cNvPr id="17" name="Text 10"/>
          <p:cNvSpPr/>
          <p:nvPr/>
        </p:nvSpPr>
        <p:spPr>
          <a:xfrm>
            <a:off x="1711151" y="6572250"/>
            <a:ext cx="92011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1125" i="1" dirty="0" err="1">
                <a:solidFill>
                  <a:srgbClr val="221F2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Othmane</a:t>
            </a:r>
            <a:r>
              <a:rPr lang="en-US" sz="1125" i="1" dirty="0">
                <a:solidFill>
                  <a:srgbClr val="221F2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 </a:t>
            </a:r>
            <a:r>
              <a:rPr lang="en-US" sz="1125" i="1">
                <a:solidFill>
                  <a:srgbClr val="221F2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Ayaou— </a:t>
            </a:r>
            <a:r>
              <a:rPr lang="en-US" sz="1125" i="1" dirty="0">
                <a:solidFill>
                  <a:srgbClr val="221F2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Data Analyst – Simplon — Mars 2026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1134</Words>
  <Application>Microsoft Office PowerPoint</Application>
  <PresentationFormat>Grand écran</PresentationFormat>
  <Paragraphs>207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7" baseType="lpstr">
      <vt:lpstr>Arial</vt:lpstr>
      <vt:lpstr>Arial-BoldMT</vt:lpstr>
      <vt:lpstr>ArialMT</vt:lpstr>
      <vt:lpstr>Fira Sans</vt:lpstr>
      <vt:lpstr>Fira Sans Extra</vt:lpstr>
      <vt:lpstr>Inter</vt:lpstr>
      <vt:lpstr>Lato</vt:lpstr>
      <vt:lpstr>Montserrat</vt:lpstr>
      <vt:lpstr>Noto Sans KR</vt:lpstr>
      <vt:lpstr>Plus Jakarta Sans</vt:lpstr>
      <vt:lpstr>Red Hat Display Variable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AYAOU OTHMANE</cp:lastModifiedBy>
  <cp:revision>3</cp:revision>
  <dcterms:created xsi:type="dcterms:W3CDTF">2026-03-29T21:31:54Z</dcterms:created>
  <dcterms:modified xsi:type="dcterms:W3CDTF">2026-03-29T22:07:42Z</dcterms:modified>
</cp:coreProperties>
</file>